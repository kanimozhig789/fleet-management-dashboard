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22D3EE"/>
                </a:solidFill>
                <a:latin typeface="Aptos"/>
              </a:defRPr>
            </a:pPr>
            <a:r>
              <a:t>HACKATHON PROJECT  |  SMART TRANSPORT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6400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F5F8FC"/>
                </a:solidFill>
                <a:latin typeface="Aptos"/>
              </a:defRPr>
            </a:pPr>
            <a:r>
              <a:t>FleetPro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19456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F5F8FC"/>
                </a:solidFill>
                <a:latin typeface="Aptos"/>
              </a:defRPr>
            </a:pPr>
            <a:r>
              <a:t>Fleet Management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926080"/>
            <a:ext cx="60350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A0AEC4"/>
                </a:solidFill>
                <a:latin typeface="Aptos"/>
              </a:defRPr>
            </a:pPr>
            <a:r>
              <a:t>Track vehicle utilization, fuel consumption,</a:t>
            </a:r>
            <a:br/>
            <a:r>
              <a:t>maintenance and operational performance.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005840"/>
            <a:ext cx="2011680" cy="2011680"/>
          </a:xfrm>
          <a:prstGeom prst="roundRect">
            <a:avLst/>
          </a:prstGeom>
          <a:solidFill>
            <a:srgbClr val="131F35"/>
          </a:solidFill>
          <a:ln>
            <a:solidFill>
              <a:srgbClr val="2D6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543800" y="1691640"/>
            <a:ext cx="1106424" cy="594360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562441" y="1828800"/>
            <a:ext cx="462686" cy="457200"/>
          </a:xfrm>
          <a:prstGeom prst="round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99248" y="1755648"/>
            <a:ext cx="274320" cy="1828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92440" y="1755648"/>
            <a:ext cx="274320" cy="1828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485632" y="1755648"/>
            <a:ext cx="274320" cy="1828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818120" y="2240280"/>
            <a:ext cx="292608" cy="292608"/>
          </a:xfrm>
          <a:prstGeom prst="ellipse">
            <a:avLst/>
          </a:prstGeom>
          <a:solidFill>
            <a:srgbClr val="0A1223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763609" y="2240280"/>
            <a:ext cx="292608" cy="292608"/>
          </a:xfrm>
          <a:prstGeom prst="ellipse">
            <a:avLst/>
          </a:prstGeom>
          <a:solidFill>
            <a:srgbClr val="0A1223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79" y="2670048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2D6CDF"/>
                </a:solidFill>
                <a:latin typeface="Aptos"/>
              </a:defRPr>
            </a:pPr>
            <a:r>
              <a:t>TRUCK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55480" y="1005840"/>
            <a:ext cx="2011680" cy="2011680"/>
          </a:xfrm>
          <a:prstGeom prst="roundRect">
            <a:avLst/>
          </a:prstGeom>
          <a:solidFill>
            <a:srgbClr val="131F35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784080" y="1691640"/>
            <a:ext cx="1347825" cy="64008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939528" y="1755648"/>
            <a:ext cx="274320" cy="1828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332719" y="1755648"/>
            <a:ext cx="274320" cy="1828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725911" y="1755648"/>
            <a:ext cx="274320" cy="1828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058400" y="2240280"/>
            <a:ext cx="292608" cy="292608"/>
          </a:xfrm>
          <a:prstGeom prst="ellipse">
            <a:avLst/>
          </a:prstGeom>
          <a:solidFill>
            <a:srgbClr val="0A1223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003889" y="2240280"/>
            <a:ext cx="292608" cy="292608"/>
          </a:xfrm>
          <a:prstGeom prst="ellipse">
            <a:avLst/>
          </a:prstGeom>
          <a:solidFill>
            <a:srgbClr val="0A1223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38359" y="2670048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22C55E"/>
                </a:solidFill>
                <a:latin typeface="Aptos"/>
              </a:defRPr>
            </a:pPr>
            <a:r>
              <a:t>VAN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0" y="3337560"/>
            <a:ext cx="2011680" cy="2011680"/>
          </a:xfrm>
          <a:prstGeom prst="roundRect">
            <a:avLst/>
          </a:prstGeom>
          <a:solidFill>
            <a:srgbClr val="131F35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613648" y="3904487"/>
            <a:ext cx="1408176" cy="822960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796528" y="4087368"/>
            <a:ext cx="274320" cy="1828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89719" y="4087368"/>
            <a:ext cx="274320" cy="1828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582911" y="4087368"/>
            <a:ext cx="274320" cy="1828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976104" y="4087368"/>
            <a:ext cx="274320" cy="1828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915400" y="4572000"/>
            <a:ext cx="292608" cy="292608"/>
          </a:xfrm>
          <a:prstGeom prst="ellipse">
            <a:avLst/>
          </a:prstGeom>
          <a:solidFill>
            <a:srgbClr val="0A1223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860889" y="4572000"/>
            <a:ext cx="292608" cy="292608"/>
          </a:xfrm>
          <a:prstGeom prst="ellipse">
            <a:avLst/>
          </a:prstGeom>
          <a:solidFill>
            <a:srgbClr val="0A1223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95359" y="5001768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22D3EE"/>
                </a:solidFill>
                <a:latin typeface="Aptos"/>
              </a:defRPr>
            </a:pPr>
            <a:r>
              <a:t>BUS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0" y="5760720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5F8FC"/>
                </a:solidFill>
                <a:latin typeface="Aptos"/>
              </a:defRPr>
            </a:pPr>
            <a:r>
              <a:t>TRUCK  •  VAN  •  BUS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53796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A0AEC4"/>
                </a:solidFill>
                <a:latin typeface="Aptos"/>
              </a:defRPr>
            </a:pPr>
            <a:r>
              <a:t>FLEETPRO  •  HACKATHON 2026    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22D3EE"/>
                </a:solidFill>
                <a:latin typeface="Aptos"/>
              </a:defRPr>
            </a:pPr>
            <a:r>
              <a:t>01  |  THE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5F8FC"/>
                </a:solidFill>
                <a:latin typeface="Aptos"/>
              </a:defRPr>
            </a:pPr>
            <a:r>
              <a:t>Why fleet operations need one control center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A0AEC4"/>
                </a:solidFill>
                <a:latin typeface="Aptos"/>
              </a:defRPr>
            </a:pPr>
            <a:r>
              <a:t>A mixed fleet creates multiple operational signals that are hard to monitor together.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57400"/>
            <a:ext cx="3383280" cy="1920240"/>
          </a:xfrm>
          <a:prstGeom prst="roundRect">
            <a:avLst/>
          </a:prstGeom>
          <a:solidFill>
            <a:srgbClr val="131F35"/>
          </a:solidFill>
          <a:ln>
            <a:solidFill>
              <a:srgbClr val="2D6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21992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A0AEC4"/>
                </a:solidFill>
                <a:latin typeface="Aptos"/>
              </a:defRPr>
            </a:pPr>
            <a:r>
              <a:t>VEHICLE VISIBILITY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5F8FC"/>
                </a:solidFill>
                <a:latin typeface="Aptos"/>
              </a:defRPr>
            </a:pPr>
            <a:r>
              <a:t>Scattered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08960"/>
            <a:ext cx="30175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A0AEC4"/>
                </a:solidFill>
                <a:latin typeface="Aptos"/>
              </a:defRPr>
            </a:pPr>
            <a:r>
              <a:t>Status, type, speed and location need one view.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057400"/>
            <a:ext cx="3383280" cy="1920240"/>
          </a:xfrm>
          <a:prstGeom prst="roundRect">
            <a:avLst/>
          </a:prstGeom>
          <a:solidFill>
            <a:srgbClr val="131F35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221992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A0AEC4"/>
                </a:solidFill>
                <a:latin typeface="Aptos"/>
              </a:defRPr>
            </a:pPr>
            <a:r>
              <a:t>FUEL 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56032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5F8FC"/>
                </a:solidFill>
                <a:latin typeface="Aptos"/>
              </a:defRPr>
            </a:pPr>
            <a:r>
              <a:t>10.8 km/L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108960"/>
            <a:ext cx="30175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A0AEC4"/>
                </a:solidFill>
                <a:latin typeface="Aptos"/>
              </a:defRPr>
            </a:pPr>
            <a:r>
              <a:t>Track efficiency, fuel usage and cost.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057400"/>
            <a:ext cx="3383280" cy="1920240"/>
          </a:xfrm>
          <a:prstGeom prst="roundRect">
            <a:avLst/>
          </a:prstGeom>
          <a:solidFill>
            <a:srgbClr val="131F35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2221992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A0AEC4"/>
                </a:solidFill>
                <a:latin typeface="Aptos"/>
              </a:defRPr>
            </a:pPr>
            <a:r>
              <a:t>MAINTENANCE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56032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5F8FC"/>
                </a:solidFill>
                <a:latin typeface="Aptos"/>
              </a:defRPr>
            </a:pPr>
            <a:r>
              <a:t>Priority Alerts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3108960"/>
            <a:ext cx="30175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A0AEC4"/>
                </a:solidFill>
                <a:latin typeface="Aptos"/>
              </a:defRPr>
            </a:pPr>
            <a:r>
              <a:t>Identify overdue and upcoming services.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800600"/>
            <a:ext cx="102412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22D3EE"/>
                </a:solidFill>
                <a:latin typeface="Aptos"/>
              </a:defRPr>
            </a:pPr>
            <a:r>
              <a:t>BUSINESS GOAL  →  Improve utilization • reduce avoidable downtime • support faster decisions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53796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A0AEC4"/>
                </a:solidFill>
                <a:latin typeface="Aptos"/>
              </a:defRPr>
            </a:pPr>
            <a:r>
              <a:t>FLEETPRO  •  HACKATHON 2026   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22D3EE"/>
                </a:solidFill>
                <a:latin typeface="Aptos"/>
              </a:defRPr>
            </a:pPr>
            <a:r>
              <a:t>02  |  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5F8FC"/>
                </a:solidFill>
                <a:latin typeface="Aptos"/>
              </a:defRPr>
            </a:pPr>
            <a:r>
              <a:t>One dashboard. Three vehicle types. One operational view.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A0AEC4"/>
                </a:solidFill>
                <a:latin typeface="Aptos"/>
              </a:defRPr>
            </a:pPr>
            <a:r>
              <a:t>FleetPro brings the project's core data into a single management interface.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1965960"/>
            <a:ext cx="2834640" cy="2286000"/>
          </a:xfrm>
          <a:prstGeom prst="roundRect">
            <a:avLst/>
          </a:prstGeom>
          <a:solidFill>
            <a:srgbClr val="131F35"/>
          </a:solidFill>
          <a:ln>
            <a:solidFill>
              <a:srgbClr val="2D6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34440" y="2651760"/>
            <a:ext cx="1559052" cy="594360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63316" y="2788920"/>
            <a:ext cx="651967" cy="457200"/>
          </a:xfrm>
          <a:prstGeom prst="round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389888" y="2715768"/>
            <a:ext cx="274320" cy="1828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83080" y="2715768"/>
            <a:ext cx="274320" cy="1828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176272" y="2715768"/>
            <a:ext cx="274320" cy="1828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508760" y="3200400"/>
            <a:ext cx="292608" cy="292608"/>
          </a:xfrm>
          <a:prstGeom prst="ellipse">
            <a:avLst/>
          </a:prstGeom>
          <a:solidFill>
            <a:srgbClr val="0A1223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046780" y="3200400"/>
            <a:ext cx="292608" cy="292608"/>
          </a:xfrm>
          <a:prstGeom prst="ellipse">
            <a:avLst/>
          </a:prstGeom>
          <a:solidFill>
            <a:srgbClr val="0A1223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3630168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2D6CDF"/>
                </a:solidFill>
                <a:latin typeface="Aptos"/>
              </a:defRPr>
            </a:pPr>
            <a:r>
              <a:t>TRUCK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572000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5F8FC"/>
                </a:solidFill>
                <a:latin typeface="Aptos"/>
              </a:defRPr>
            </a:pPr>
            <a:r>
              <a:t>TN-01 / TN-04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63440" y="1965960"/>
            <a:ext cx="2834640" cy="2286000"/>
          </a:xfrm>
          <a:prstGeom prst="roundRect">
            <a:avLst/>
          </a:prstGeom>
          <a:solidFill>
            <a:srgbClr val="131F35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892040" y="2651760"/>
            <a:ext cx="1899208" cy="64008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47488" y="2715768"/>
            <a:ext cx="274320" cy="1828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40679" y="2715768"/>
            <a:ext cx="274320" cy="1828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833872" y="2715768"/>
            <a:ext cx="274320" cy="1828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166359" y="3200400"/>
            <a:ext cx="292608" cy="292608"/>
          </a:xfrm>
          <a:prstGeom prst="ellipse">
            <a:avLst/>
          </a:prstGeom>
          <a:solidFill>
            <a:srgbClr val="0A1223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704380" y="3200400"/>
            <a:ext cx="292608" cy="292608"/>
          </a:xfrm>
          <a:prstGeom prst="ellipse">
            <a:avLst/>
          </a:prstGeom>
          <a:solidFill>
            <a:srgbClr val="0A1223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46320" y="3630168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22C55E"/>
                </a:solidFill>
                <a:latin typeface="Aptos"/>
              </a:defRPr>
            </a:pPr>
            <a:r>
              <a:t>VAN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4572000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5F8FC"/>
                </a:solidFill>
                <a:latin typeface="Aptos"/>
              </a:defRPr>
            </a:pPr>
            <a:r>
              <a:t>TN-02 / TN-05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21040" y="1965960"/>
            <a:ext cx="2834640" cy="2286000"/>
          </a:xfrm>
          <a:prstGeom prst="roundRect">
            <a:avLst/>
          </a:prstGeom>
          <a:solidFill>
            <a:srgbClr val="131F35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522208" y="2532888"/>
            <a:ext cx="1984248" cy="822960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705088" y="2715768"/>
            <a:ext cx="274320" cy="1828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98280" y="2715768"/>
            <a:ext cx="274320" cy="1828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491472" y="2715768"/>
            <a:ext cx="274320" cy="1828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884663" y="2715768"/>
            <a:ext cx="274320" cy="1828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823960" y="3200400"/>
            <a:ext cx="292608" cy="292608"/>
          </a:xfrm>
          <a:prstGeom prst="ellipse">
            <a:avLst/>
          </a:prstGeom>
          <a:solidFill>
            <a:srgbClr val="0A1223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361980" y="3200400"/>
            <a:ext cx="292608" cy="292608"/>
          </a:xfrm>
          <a:prstGeom prst="ellipse">
            <a:avLst/>
          </a:prstGeom>
          <a:solidFill>
            <a:srgbClr val="0A1223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03919" y="3630168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22D3EE"/>
                </a:solidFill>
                <a:latin typeface="Aptos"/>
              </a:defRPr>
            </a:pPr>
            <a:r>
              <a:t>BUS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4572000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5F8FC"/>
                </a:solidFill>
                <a:latin typeface="Aptos"/>
              </a:defRPr>
            </a:pPr>
            <a:r>
              <a:t>TN-03 / TN-06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653796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A0AEC4"/>
                </a:solidFill>
                <a:latin typeface="Aptos"/>
              </a:defRPr>
            </a:pPr>
            <a:r>
              <a:t>FLEETPRO  •  HACKATHON 2026   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22D3EE"/>
                </a:solidFill>
                <a:latin typeface="Aptos"/>
              </a:defRPr>
            </a:pPr>
            <a:r>
              <a:t>03  | 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5F8FC"/>
                </a:solidFill>
                <a:latin typeface="Aptos"/>
              </a:defRPr>
            </a:pPr>
            <a:r>
              <a:t>Executive fleet snapshot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A0AEC4"/>
                </a:solidFill>
                <a:latin typeface="Aptos"/>
              </a:defRPr>
            </a:pPr>
            <a:r>
              <a:t>The dashboard turns vehicle data into quick operational signals.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2514600" cy="1508760"/>
          </a:xfrm>
          <a:prstGeom prst="roundRect">
            <a:avLst/>
          </a:prstGeom>
          <a:solidFill>
            <a:srgbClr val="131F35"/>
          </a:solidFill>
          <a:ln>
            <a:solidFill>
              <a:srgbClr val="2D6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39112"/>
            <a:ext cx="2148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A0AEC4"/>
                </a:solidFill>
                <a:latin typeface="Aptos"/>
              </a:defRPr>
            </a:pPr>
            <a:r>
              <a:t>TOTAL VEHICLES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39"/>
            <a:ext cx="2148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5F8FC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26079"/>
            <a:ext cx="2148840" cy="3657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A0AEC4"/>
                </a:solidFill>
                <a:latin typeface="Aptos"/>
              </a:defRPr>
            </a:pPr>
            <a:r>
              <a:t>Mixed fleet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39" y="1874519"/>
            <a:ext cx="2514600" cy="1508760"/>
          </a:xfrm>
          <a:prstGeom prst="roundRect">
            <a:avLst/>
          </a:prstGeom>
          <a:solidFill>
            <a:srgbClr val="131F35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3320" y="2039112"/>
            <a:ext cx="2148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A0AEC4"/>
                </a:solidFill>
                <a:latin typeface="Aptos"/>
              </a:defRPr>
            </a:pPr>
            <a:r>
              <a:t>ACTIVE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2377439"/>
            <a:ext cx="2148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5F8FC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2926079"/>
            <a:ext cx="2148840" cy="3657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A0AEC4"/>
                </a:solidFill>
                <a:latin typeface="Aptos"/>
              </a:defRPr>
            </a:pPr>
            <a:r>
              <a:t>50% of fleet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59" y="1874519"/>
            <a:ext cx="2514600" cy="1508760"/>
          </a:xfrm>
          <a:prstGeom prst="roundRect">
            <a:avLst/>
          </a:prstGeom>
          <a:solidFill>
            <a:srgbClr val="131F35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2039112"/>
            <a:ext cx="2148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A0AEC4"/>
                </a:solidFill>
                <a:latin typeface="Aptos"/>
              </a:defRPr>
            </a:pPr>
            <a:r>
              <a:t>IDLE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377439"/>
            <a:ext cx="2148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5F8FC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926079"/>
            <a:ext cx="2148840" cy="3657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A0AEC4"/>
                </a:solidFill>
                <a:latin typeface="Aptos"/>
              </a:defRPr>
            </a:pPr>
            <a:r>
              <a:t>Needs utilization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280" y="1874519"/>
            <a:ext cx="2514600" cy="1508760"/>
          </a:xfrm>
          <a:prstGeom prst="roundRect">
            <a:avLst/>
          </a:prstGeom>
          <a:solidFill>
            <a:srgbClr val="131F35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81159" y="2039112"/>
            <a:ext cx="2148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A0AEC4"/>
                </a:solidFill>
                <a:latin typeface="Aptos"/>
              </a:defRPr>
            </a:pPr>
            <a:r>
              <a:t>MAINTENANCE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59" y="2377439"/>
            <a:ext cx="2148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5F8FC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59" y="2926079"/>
            <a:ext cx="2148840" cy="3657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A0AEC4"/>
                </a:solidFill>
                <a:latin typeface="Aptos"/>
              </a:defRPr>
            </a:pPr>
            <a:r>
              <a:t>Requires attention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703320"/>
            <a:ext cx="5257800" cy="1874519"/>
          </a:xfrm>
          <a:prstGeom prst="roundRect">
            <a:avLst/>
          </a:prstGeom>
          <a:solidFill>
            <a:srgbClr val="131F35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867911"/>
            <a:ext cx="4892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A0AEC4"/>
                </a:solidFill>
                <a:latin typeface="Aptos"/>
              </a:defRPr>
            </a:pPr>
            <a:r>
              <a:t>FLEET HEALTH SCORE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206240"/>
            <a:ext cx="4892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5F8FC"/>
                </a:solidFill>
                <a:latin typeface="Aptos"/>
              </a:defRPr>
            </a:pPr>
            <a:r>
              <a:t>87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754879"/>
            <a:ext cx="4892040" cy="7315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A0AEC4"/>
                </a:solidFill>
                <a:latin typeface="Aptos"/>
              </a:defRPr>
            </a:pPr>
            <a:r>
              <a:t>Excellent fleet health • Utilization 91% • Maintenance 84% • Fuel efficiency 89%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3703320"/>
            <a:ext cx="5257800" cy="1874519"/>
          </a:xfrm>
          <a:prstGeom prst="roundRect">
            <a:avLst/>
          </a:prstGeom>
          <a:solidFill>
            <a:srgbClr val="131F35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3867911"/>
            <a:ext cx="4892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A0AEC4"/>
                </a:solidFill>
                <a:latin typeface="Aptos"/>
              </a:defRPr>
            </a:pPr>
            <a:r>
              <a:t>AVERAGE FUEL EFFICIENCY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206240"/>
            <a:ext cx="4892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5F8FC"/>
                </a:solidFill>
                <a:latin typeface="Aptos"/>
              </a:defRPr>
            </a:pPr>
            <a:r>
              <a:t>10.8 km/L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754879"/>
            <a:ext cx="4892040" cy="7315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A0AEC4"/>
                </a:solidFill>
                <a:latin typeface="Aptos"/>
              </a:defRPr>
            </a:pPr>
            <a:r>
              <a:t>Best efficiency: 12.4 km/L • Total fuel used: 1,248 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53796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A0AEC4"/>
                </a:solidFill>
                <a:latin typeface="Aptos"/>
              </a:defRPr>
            </a:pPr>
            <a:r>
              <a:t>FLEETPRO  •  HACKATHON 2026   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22D3EE"/>
                </a:solidFill>
                <a:latin typeface="Aptos"/>
              </a:defRPr>
            </a:pPr>
            <a:r>
              <a:t>04  |  VEHICLE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5F8FC"/>
                </a:solidFill>
                <a:latin typeface="Aptos"/>
              </a:defRPr>
            </a:pPr>
            <a:r>
              <a:t>Know every vehicle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A0AEC4"/>
                </a:solidFill>
                <a:latin typeface="Aptos"/>
              </a:defRPr>
            </a:pPr>
            <a:r>
              <a:t>Each record includes type, status, fuel, speed and location.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1">
                <a:solidFill>
                  <a:srgbClr val="A0AEC4"/>
                </a:solidFill>
                <a:latin typeface="Aptos"/>
              </a:defRPr>
            </a:pPr>
            <a:r>
              <a:t>VEHICLE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874519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1">
                <a:solidFill>
                  <a:srgbClr val="A0AEC4"/>
                </a:solidFill>
                <a:latin typeface="Aptos"/>
              </a:defRPr>
            </a:pPr>
            <a:r>
              <a:t>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0440" y="1874519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1">
                <a:solidFill>
                  <a:srgbClr val="A0AEC4"/>
                </a:solidFill>
                <a:latin typeface="Aptos"/>
              </a:defRPr>
            </a:pPr>
            <a:r>
              <a:t>STATUS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1874519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1">
                <a:solidFill>
                  <a:srgbClr val="A0AEC4"/>
                </a:solidFill>
                <a:latin typeface="Aptos"/>
              </a:defRPr>
            </a:pPr>
            <a:r>
              <a:t>FUEL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874519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1">
                <a:solidFill>
                  <a:srgbClr val="A0AEC4"/>
                </a:solidFill>
                <a:latin typeface="Aptos"/>
              </a:defRPr>
            </a:pPr>
            <a:r>
              <a:t>SPEED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1874519"/>
            <a:ext cx="1280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1">
                <a:solidFill>
                  <a:srgbClr val="A0AEC4"/>
                </a:solidFill>
                <a:latin typeface="Aptos"/>
              </a:defRPr>
            </a:pPr>
            <a:r>
              <a:t>LOCATION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331720"/>
            <a:ext cx="1417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5F8FC"/>
                </a:solidFill>
                <a:latin typeface="Aptos"/>
              </a:defRPr>
            </a:pPr>
            <a:r>
              <a:t>TN-01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40280" y="2331720"/>
            <a:ext cx="1417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F5F8FC"/>
                </a:solidFill>
                <a:latin typeface="Aptos"/>
              </a:defRPr>
            </a:pPr>
            <a:r>
              <a:t>TRUCK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331720"/>
            <a:ext cx="1417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22C55E"/>
                </a:solidFill>
                <a:latin typeface="Aptos"/>
              </a:defRPr>
            </a:pPr>
            <a:r>
              <a:t>ACTIVE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2331720"/>
            <a:ext cx="1417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F5F8FC"/>
                </a:solidFill>
                <a:latin typeface="Aptos"/>
              </a:defRPr>
            </a:pPr>
            <a:r>
              <a:t>82%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331720"/>
            <a:ext cx="1417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F5F8FC"/>
                </a:solidFill>
                <a:latin typeface="Aptos"/>
              </a:defRPr>
            </a:pPr>
            <a:r>
              <a:t>64 km/h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2331720"/>
            <a:ext cx="1417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F5F8FC"/>
                </a:solidFill>
                <a:latin typeface="Aptos"/>
              </a:defRPr>
            </a:pPr>
            <a:r>
              <a:t>Chennai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2898648"/>
            <a:ext cx="1417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5F8FC"/>
                </a:solidFill>
                <a:latin typeface="Aptos"/>
              </a:defRPr>
            </a:pPr>
            <a:r>
              <a:t>TN-02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2898648"/>
            <a:ext cx="1417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F5F8FC"/>
                </a:solidFill>
                <a:latin typeface="Aptos"/>
              </a:defRPr>
            </a:pPr>
            <a:r>
              <a:t>VAN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2898648"/>
            <a:ext cx="1417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Aptos"/>
              </a:defRPr>
            </a:pPr>
            <a:r>
              <a:t>IDLE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2898648"/>
            <a:ext cx="1417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F5F8FC"/>
                </a:solidFill>
                <a:latin typeface="Aptos"/>
              </a:defRPr>
            </a:pPr>
            <a:r>
              <a:t>54%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2898648"/>
            <a:ext cx="1417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F5F8FC"/>
                </a:solidFill>
                <a:latin typeface="Aptos"/>
              </a:defRPr>
            </a:pPr>
            <a:r>
              <a:t>0 km/h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2898648"/>
            <a:ext cx="1417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F5F8FC"/>
                </a:solidFill>
                <a:latin typeface="Aptos"/>
              </a:defRPr>
            </a:pPr>
            <a:r>
              <a:t>Tambaram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465576"/>
            <a:ext cx="1417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5F8FC"/>
                </a:solidFill>
                <a:latin typeface="Aptos"/>
              </a:defRPr>
            </a:pPr>
            <a:r>
              <a:t>TN-03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40280" y="3465576"/>
            <a:ext cx="1417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F5F8FC"/>
                </a:solidFill>
                <a:latin typeface="Aptos"/>
              </a:defRPr>
            </a:pPr>
            <a:r>
              <a:t>BUS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20440" y="3465576"/>
            <a:ext cx="1417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EF4444"/>
                </a:solidFill>
                <a:latin typeface="Aptos"/>
              </a:defRPr>
            </a:pPr>
            <a:r>
              <a:t>MAINTENANCE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3465576"/>
            <a:ext cx="1417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F5F8FC"/>
                </a:solidFill>
                <a:latin typeface="Aptos"/>
              </a:defRPr>
            </a:pPr>
            <a:r>
              <a:t>35%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3465576"/>
            <a:ext cx="1417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F5F8FC"/>
                </a:solidFill>
                <a:latin typeface="Aptos"/>
              </a:defRPr>
            </a:pPr>
            <a:r>
              <a:t>0 km/h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3465576"/>
            <a:ext cx="1417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F5F8FC"/>
                </a:solidFill>
                <a:latin typeface="Aptos"/>
              </a:defRPr>
            </a:pPr>
            <a:r>
              <a:t>Guindy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4032504"/>
            <a:ext cx="1417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5F8FC"/>
                </a:solidFill>
                <a:latin typeface="Aptos"/>
              </a:defRPr>
            </a:pPr>
            <a:r>
              <a:t>TN-04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4032504"/>
            <a:ext cx="1417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F5F8FC"/>
                </a:solidFill>
                <a:latin typeface="Aptos"/>
              </a:defRPr>
            </a:pPr>
            <a:r>
              <a:t>TRUCK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20440" y="4032504"/>
            <a:ext cx="1417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22C55E"/>
                </a:solidFill>
                <a:latin typeface="Aptos"/>
              </a:defRPr>
            </a:pPr>
            <a:r>
              <a:t>ACTIVE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0" y="4032504"/>
            <a:ext cx="1417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F5F8FC"/>
                </a:solidFill>
                <a:latin typeface="Aptos"/>
              </a:defRPr>
            </a:pPr>
            <a:r>
              <a:t>91%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4032504"/>
            <a:ext cx="1417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F5F8FC"/>
                </a:solidFill>
                <a:latin typeface="Aptos"/>
              </a:defRPr>
            </a:pPr>
            <a:r>
              <a:t>72 km/h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0" y="4032504"/>
            <a:ext cx="1417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F5F8FC"/>
                </a:solidFill>
                <a:latin typeface="Aptos"/>
              </a:defRPr>
            </a:pPr>
            <a:r>
              <a:t>T Nagar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4599431"/>
            <a:ext cx="1417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5F8FC"/>
                </a:solidFill>
                <a:latin typeface="Aptos"/>
              </a:defRPr>
            </a:pPr>
            <a:r>
              <a:t>TN-05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40280" y="4599431"/>
            <a:ext cx="1417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F5F8FC"/>
                </a:solidFill>
                <a:latin typeface="Aptos"/>
              </a:defRPr>
            </a:pPr>
            <a:r>
              <a:t>VAN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20440" y="4599431"/>
            <a:ext cx="1417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22C55E"/>
                </a:solidFill>
                <a:latin typeface="Aptos"/>
              </a:defRPr>
            </a:pPr>
            <a:r>
              <a:t>ACTIVE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0" y="4599431"/>
            <a:ext cx="1417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F5F8FC"/>
                </a:solidFill>
                <a:latin typeface="Aptos"/>
              </a:defRPr>
            </a:pPr>
            <a:r>
              <a:t>65%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0" y="4599431"/>
            <a:ext cx="1417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F5F8FC"/>
                </a:solidFill>
                <a:latin typeface="Aptos"/>
              </a:defRPr>
            </a:pPr>
            <a:r>
              <a:t>55 km/h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0" y="4599431"/>
            <a:ext cx="1417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F5F8FC"/>
                </a:solidFill>
                <a:latin typeface="Aptos"/>
              </a:defRPr>
            </a:pPr>
            <a:r>
              <a:t>Velachery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5166360"/>
            <a:ext cx="1417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5F8FC"/>
                </a:solidFill>
                <a:latin typeface="Aptos"/>
              </a:defRPr>
            </a:pPr>
            <a:r>
              <a:t>TN-06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240280" y="5166360"/>
            <a:ext cx="1417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F5F8FC"/>
                </a:solidFill>
                <a:latin typeface="Aptos"/>
              </a:defRPr>
            </a:pPr>
            <a:r>
              <a:t>BUS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20440" y="5166360"/>
            <a:ext cx="1417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59E0B"/>
                </a:solidFill>
                <a:latin typeface="Aptos"/>
              </a:defRPr>
            </a:pPr>
            <a:r>
              <a:t>IDLE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0" y="5166360"/>
            <a:ext cx="1417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F5F8FC"/>
                </a:solidFill>
                <a:latin typeface="Aptos"/>
              </a:defRPr>
            </a:pPr>
            <a:r>
              <a:t>48%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17920" y="5166360"/>
            <a:ext cx="1417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F5F8FC"/>
                </a:solidFill>
                <a:latin typeface="Aptos"/>
              </a:defRPr>
            </a:pPr>
            <a:r>
              <a:t>0 km/h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0" y="5166360"/>
            <a:ext cx="1417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F5F8FC"/>
                </a:solidFill>
                <a:latin typeface="Aptos"/>
              </a:defRPr>
            </a:pPr>
            <a:r>
              <a:t>Adyar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" y="653796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A0AEC4"/>
                </a:solidFill>
                <a:latin typeface="Aptos"/>
              </a:defRPr>
            </a:pPr>
            <a:r>
              <a:t>FLEETPRO  •  HACKATHON 2026   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22D3EE"/>
                </a:solidFill>
                <a:latin typeface="Aptos"/>
              </a:defRPr>
            </a:pPr>
            <a:r>
              <a:t>05  | 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5F8FC"/>
                </a:solidFill>
                <a:latin typeface="Aptos"/>
              </a:defRPr>
            </a:pPr>
            <a:r>
              <a:t>Trips, tracking and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A0AEC4"/>
                </a:solidFill>
                <a:latin typeface="Aptos"/>
              </a:defRPr>
            </a:pPr>
            <a:r>
              <a:t>Operational modules support daily fleet decisions.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3429000" cy="1645920"/>
          </a:xfrm>
          <a:prstGeom prst="roundRect">
            <a:avLst/>
          </a:prstGeom>
          <a:solidFill>
            <a:srgbClr val="131F35"/>
          </a:solidFill>
          <a:ln>
            <a:solidFill>
              <a:srgbClr val="2D6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39112"/>
            <a:ext cx="3063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A0AEC4"/>
                </a:solidFill>
                <a:latin typeface="Aptos"/>
              </a:defRPr>
            </a:pPr>
            <a:r>
              <a:t>TRIP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39"/>
            <a:ext cx="3063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5F8FC"/>
                </a:solidFill>
                <a:latin typeface="Aptos"/>
              </a:defRPr>
            </a:pPr>
            <a:r>
              <a:t>3 Trips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26079"/>
            <a:ext cx="3063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A0AEC4"/>
                </a:solidFill>
                <a:latin typeface="Aptos"/>
              </a:defRPr>
            </a:pPr>
            <a:r>
              <a:t>Completed • Running • Scheduled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874519"/>
            <a:ext cx="3429000" cy="1645920"/>
          </a:xfrm>
          <a:prstGeom prst="roundRect">
            <a:avLst/>
          </a:prstGeom>
          <a:solidFill>
            <a:srgbClr val="131F35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039112"/>
            <a:ext cx="3063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A0AEC4"/>
                </a:solidFill>
                <a:latin typeface="Aptos"/>
              </a:defRPr>
            </a:pPr>
            <a:r>
              <a:t>LIVE TRACKING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377439"/>
            <a:ext cx="3063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5F8FC"/>
                </a:solidFill>
                <a:latin typeface="Aptos"/>
              </a:defRPr>
            </a:pPr>
            <a:r>
              <a:t>6 Vehicles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926079"/>
            <a:ext cx="3063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A0AEC4"/>
                </a:solidFill>
                <a:latin typeface="Aptos"/>
              </a:defRPr>
            </a:pPr>
            <a:r>
              <a:t>Location + status + speed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874519"/>
            <a:ext cx="3429000" cy="1645920"/>
          </a:xfrm>
          <a:prstGeom prst="roundRect">
            <a:avLst/>
          </a:prstGeom>
          <a:solidFill>
            <a:srgbClr val="131F35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2039112"/>
            <a:ext cx="3063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A0AEC4"/>
                </a:solidFill>
                <a:latin typeface="Aptos"/>
              </a:defRPr>
            </a:pPr>
            <a:r>
              <a:t>ANALYTICS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377439"/>
            <a:ext cx="3063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5F8FC"/>
                </a:solidFill>
                <a:latin typeface="Aptos"/>
              </a:defRPr>
            </a:pPr>
            <a:r>
              <a:t>89%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926079"/>
            <a:ext cx="3063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A0AEC4"/>
                </a:solidFill>
                <a:latin typeface="Aptos"/>
              </a:defRPr>
            </a:pPr>
            <a:r>
              <a:t>Fleet efficiency summary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886200"/>
            <a:ext cx="3429000" cy="1645920"/>
          </a:xfrm>
          <a:prstGeom prst="roundRect">
            <a:avLst/>
          </a:prstGeom>
          <a:solidFill>
            <a:srgbClr val="131F35"/>
          </a:solidFill>
          <a:ln>
            <a:solidFill>
              <a:srgbClr val="2D6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050791"/>
            <a:ext cx="3063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A0AEC4"/>
                </a:solidFill>
                <a:latin typeface="Aptos"/>
              </a:defRPr>
            </a:pPr>
            <a:r>
              <a:t>UTILIZATION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389120"/>
            <a:ext cx="3063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5F8FC"/>
                </a:solidFill>
                <a:latin typeface="Aptos"/>
              </a:defRPr>
            </a:pPr>
            <a:r>
              <a:t>91%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937760"/>
            <a:ext cx="3063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A0AEC4"/>
                </a:solidFill>
                <a:latin typeface="Aptos"/>
              </a:defRPr>
            </a:pPr>
            <a:r>
              <a:t>Vehicle utilization KPI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3886200"/>
            <a:ext cx="3429000" cy="1645920"/>
          </a:xfrm>
          <a:prstGeom prst="roundRect">
            <a:avLst/>
          </a:prstGeom>
          <a:solidFill>
            <a:srgbClr val="131F35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0" y="4050791"/>
            <a:ext cx="3063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A0AEC4"/>
                </a:solidFill>
                <a:latin typeface="Aptos"/>
              </a:defRPr>
            </a:pPr>
            <a:r>
              <a:t>PREDICTIONS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4389120"/>
            <a:ext cx="3063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5F8FC"/>
                </a:solidFill>
                <a:latin typeface="Aptos"/>
              </a:defRPr>
            </a:pPr>
            <a:r>
              <a:t>3 Signals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4937760"/>
            <a:ext cx="3063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A0AEC4"/>
                </a:solidFill>
                <a:latin typeface="Aptos"/>
              </a:defRPr>
            </a:pPr>
            <a:r>
              <a:t>Maintenance • fuel • utilization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3886200"/>
            <a:ext cx="3429000" cy="1645920"/>
          </a:xfrm>
          <a:prstGeom prst="roundRect">
            <a:avLst/>
          </a:prstGeom>
          <a:solidFill>
            <a:srgbClr val="131F35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4050791"/>
            <a:ext cx="3063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A0AEC4"/>
                </a:solidFill>
                <a:latin typeface="Aptos"/>
              </a:defRPr>
            </a:pPr>
            <a:r>
              <a:t>REPORTS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389120"/>
            <a:ext cx="3063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5F8FC"/>
                </a:solidFill>
                <a:latin typeface="Aptos"/>
              </a:defRPr>
            </a:pPr>
            <a:r>
              <a:t>4 Reports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4937760"/>
            <a:ext cx="3063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A0AEC4"/>
                </a:solidFill>
                <a:latin typeface="Aptos"/>
              </a:defRPr>
            </a:pPr>
            <a:r>
              <a:t>Vehicle • fuel • maintenance • performance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53796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A0AEC4"/>
                </a:solidFill>
                <a:latin typeface="Aptos"/>
              </a:defRPr>
            </a:pPr>
            <a:r>
              <a:t>FLEETPRO  •  HACKATHON 2026   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22D3EE"/>
                </a:solidFill>
                <a:latin typeface="Aptos"/>
              </a:defRPr>
            </a:pPr>
            <a:r>
              <a:t>06  |  FUEL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5F8FC"/>
                </a:solidFill>
                <a:latin typeface="Aptos"/>
              </a:defRPr>
            </a:pPr>
            <a:r>
              <a:t>Turn fuel data into cost visibility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A0AEC4"/>
                </a:solidFill>
                <a:latin typeface="Aptos"/>
              </a:defRPr>
            </a:pPr>
            <a:r>
              <a:t>The dashboard provides efficiency and financial indicators.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291840" cy="1600200"/>
          </a:xfrm>
          <a:prstGeom prst="roundRect">
            <a:avLst/>
          </a:prstGeom>
          <a:solidFill>
            <a:srgbClr val="131F35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93392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A0AEC4"/>
                </a:solidFill>
                <a:latin typeface="Aptos"/>
              </a:defRPr>
            </a:pPr>
            <a:r>
              <a:t>AVERAGE EFFICIENCY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5F8FC"/>
                </a:solidFill>
                <a:latin typeface="Aptos"/>
              </a:defRPr>
            </a:pPr>
            <a:r>
              <a:t>10.8 km/L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8036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A0AEC4"/>
                </a:solidFill>
                <a:latin typeface="Aptos"/>
              </a:defRPr>
            </a:pPr>
            <a:r>
              <a:t>Fleet average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3886200"/>
            <a:ext cx="3291840" cy="1600200"/>
          </a:xfrm>
          <a:prstGeom prst="roundRect">
            <a:avLst/>
          </a:prstGeom>
          <a:solidFill>
            <a:srgbClr val="131F35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4050791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A0AEC4"/>
                </a:solidFill>
                <a:latin typeface="Aptos"/>
              </a:defRPr>
            </a:pPr>
            <a:r>
              <a:t>BEST EFFICIENCY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438912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5F8FC"/>
                </a:solidFill>
                <a:latin typeface="Aptos"/>
              </a:defRPr>
            </a:pPr>
            <a:r>
              <a:t>12.4 km/L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493776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A0AEC4"/>
                </a:solidFill>
                <a:latin typeface="Aptos"/>
              </a:defRPr>
            </a:pPr>
            <a:r>
              <a:t>Highest recorded efficiency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3886200"/>
            <a:ext cx="3291840" cy="1600200"/>
          </a:xfrm>
          <a:prstGeom prst="roundRect">
            <a:avLst/>
          </a:prstGeom>
          <a:solidFill>
            <a:srgbClr val="131F35"/>
          </a:solidFill>
          <a:ln>
            <a:solidFill>
              <a:srgbClr val="2D6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19" y="4050791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A0AEC4"/>
                </a:solidFill>
                <a:latin typeface="Aptos"/>
              </a:defRPr>
            </a:pPr>
            <a:r>
              <a:t>FUEL USED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9" y="438912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5F8FC"/>
                </a:solidFill>
                <a:latin typeface="Aptos"/>
              </a:defRPr>
            </a:pPr>
            <a:r>
              <a:t>1,248 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19" y="493776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A0AEC4"/>
                </a:solidFill>
                <a:latin typeface="Aptos"/>
              </a:defRPr>
            </a:pPr>
            <a:r>
              <a:t>Reported total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0" y="3886200"/>
            <a:ext cx="3291840" cy="1600200"/>
          </a:xfrm>
          <a:prstGeom prst="roundRect">
            <a:avLst/>
          </a:prstGeom>
          <a:solidFill>
            <a:srgbClr val="131F35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26080" y="4050791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A0AEC4"/>
                </a:solidFill>
                <a:latin typeface="Aptos"/>
              </a:defRPr>
            </a:pPr>
            <a:r>
              <a:t>MONTHLY FUEL COST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438912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5F8FC"/>
                </a:solidFill>
                <a:latin typeface="Aptos"/>
              </a:defRPr>
            </a:pPr>
            <a:r>
              <a:t>₹1,12,500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493776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A0AEC4"/>
                </a:solidFill>
                <a:latin typeface="Aptos"/>
              </a:defRPr>
            </a:pPr>
            <a:r>
              <a:t>Operational cost indicator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3886200"/>
            <a:ext cx="3291840" cy="1600200"/>
          </a:xfrm>
          <a:prstGeom prst="roundRect">
            <a:avLst/>
          </a:prstGeom>
          <a:solidFill>
            <a:srgbClr val="131F35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4050791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A0AEC4"/>
                </a:solidFill>
                <a:latin typeface="Aptos"/>
              </a:defRPr>
            </a:pPr>
            <a:r>
              <a:t>WEEKLY PERFORMANCE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38912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5F8FC"/>
                </a:solidFill>
                <a:latin typeface="Aptos"/>
              </a:defRPr>
            </a:pPr>
            <a:r>
              <a:t>7 Days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493776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A0AEC4"/>
                </a:solidFill>
                <a:latin typeface="Aptos"/>
              </a:defRPr>
            </a:pPr>
            <a:r>
              <a:t>Mon → Sun tracking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53796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A0AEC4"/>
                </a:solidFill>
                <a:latin typeface="Aptos"/>
              </a:defRPr>
            </a:pPr>
            <a:r>
              <a:t>FLEETPRO  •  HACKATHON 2026    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22D3EE"/>
                </a:solidFill>
                <a:latin typeface="Aptos"/>
              </a:defRPr>
            </a:pPr>
            <a:r>
              <a:t>07  |  MAINTENANCE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5F8FC"/>
                </a:solidFill>
                <a:latin typeface="Aptos"/>
              </a:defRPr>
            </a:pPr>
            <a:r>
              <a:t>Prevent downtime before it becomes a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A0AEC4"/>
                </a:solidFill>
                <a:latin typeface="Aptos"/>
              </a:defRPr>
            </a:pPr>
            <a:r>
              <a:t>Prioritized alerts make service planning easier.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965960"/>
            <a:ext cx="3291840" cy="1828800"/>
          </a:xfrm>
          <a:prstGeom prst="roundRect">
            <a:avLst/>
          </a:prstGeom>
          <a:solidFill>
            <a:srgbClr val="131F35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30552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A0AEC4"/>
                </a:solidFill>
                <a:latin typeface="Aptos"/>
              </a:defRPr>
            </a:pPr>
            <a:r>
              <a:t>HIGH PRIORITY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6888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5F8FC"/>
                </a:solidFill>
                <a:latin typeface="Aptos"/>
              </a:defRPr>
            </a:pPr>
            <a:r>
              <a:t>TN-03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017520"/>
            <a:ext cx="29260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A0AEC4"/>
                </a:solidFill>
                <a:latin typeface="Aptos"/>
              </a:defRPr>
            </a:pPr>
            <a:r>
              <a:t>Service overdue • 15 Aug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965960"/>
            <a:ext cx="3291840" cy="1828800"/>
          </a:xfrm>
          <a:prstGeom prst="roundRect">
            <a:avLst/>
          </a:prstGeom>
          <a:solidFill>
            <a:srgbClr val="131F35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2130552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A0AEC4"/>
                </a:solidFill>
                <a:latin typeface="Aptos"/>
              </a:defRPr>
            </a:pPr>
            <a:r>
              <a:t>MEDIUM PRIORITY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46888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5F8FC"/>
                </a:solidFill>
                <a:latin typeface="Aptos"/>
              </a:defRPr>
            </a:pPr>
            <a:r>
              <a:t>TN-07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3017520"/>
            <a:ext cx="29260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A0AEC4"/>
                </a:solidFill>
                <a:latin typeface="Aptos"/>
              </a:defRPr>
            </a:pPr>
            <a:r>
              <a:t>Service in 3 days • 18 Aug 2026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965960"/>
            <a:ext cx="3291840" cy="1828800"/>
          </a:xfrm>
          <a:prstGeom prst="roundRect">
            <a:avLst/>
          </a:prstGeom>
          <a:solidFill>
            <a:srgbClr val="131F35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2130552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A0AEC4"/>
                </a:solidFill>
                <a:latin typeface="Aptos"/>
              </a:defRPr>
            </a:pPr>
            <a:r>
              <a:t>LOW PRIORITY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46888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5F8FC"/>
                </a:solidFill>
                <a:latin typeface="Aptos"/>
              </a:defRPr>
            </a:pPr>
            <a:r>
              <a:t>TN-12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3017520"/>
            <a:ext cx="29260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A0AEC4"/>
                </a:solidFill>
                <a:latin typeface="Aptos"/>
              </a:defRPr>
            </a:pPr>
            <a:r>
              <a:t>Maintenance good • 25 Aug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709160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22D3EE"/>
                </a:solidFill>
                <a:latin typeface="Aptos"/>
              </a:defRPr>
            </a:pPr>
            <a:r>
              <a:t>Decision support: identify critical vehicles first, then schedule upcoming services.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53796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A0AEC4"/>
                </a:solidFill>
                <a:latin typeface="Aptos"/>
              </a:defRPr>
            </a:pPr>
            <a:r>
              <a:t>FLEETPRO  •  HACKATHON 2026    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22D3EE"/>
                </a:solidFill>
                <a:latin typeface="Aptos"/>
              </a:defRPr>
            </a:pPr>
            <a:r>
              <a:t>08  |  TECHNICAL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5F8FC"/>
                </a:solidFill>
                <a:latin typeface="Aptos"/>
              </a:defRPr>
            </a:pPr>
            <a:r>
              <a:t>Project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A0AEC4"/>
                </a:solidFill>
                <a:latin typeface="Aptos"/>
              </a:defRPr>
            </a:pPr>
            <a:r>
              <a:t>A modular React structure supports the dashboard's operational screens.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965960"/>
            <a:ext cx="3154680" cy="1828800"/>
          </a:xfrm>
          <a:prstGeom prst="roundRect">
            <a:avLst/>
          </a:prstGeom>
          <a:solidFill>
            <a:srgbClr val="131F35"/>
          </a:solidFill>
          <a:ln>
            <a:solidFill>
              <a:srgbClr val="2D6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30552"/>
            <a:ext cx="2788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A0AEC4"/>
                </a:solidFill>
                <a:latin typeface="Aptos"/>
              </a:defRPr>
            </a:pPr>
            <a:r>
              <a:t>DATA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68880"/>
            <a:ext cx="2788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5F8FC"/>
                </a:solidFill>
                <a:latin typeface="Aptos"/>
              </a:defRPr>
            </a:pPr>
            <a:r>
              <a:t>Vehicle + Trips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017520"/>
            <a:ext cx="2788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A0AEC4"/>
                </a:solidFill>
                <a:latin typeface="Aptos"/>
              </a:defRPr>
            </a:pPr>
            <a:r>
              <a:t>Vehicle, trip and maintenance data.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965960"/>
            <a:ext cx="3154680" cy="1828800"/>
          </a:xfrm>
          <a:prstGeom prst="roundRect">
            <a:avLst/>
          </a:prstGeom>
          <a:solidFill>
            <a:srgbClr val="131F35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0" y="2130552"/>
            <a:ext cx="2788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A0AEC4"/>
                </a:solidFill>
                <a:latin typeface="Aptos"/>
              </a:defRPr>
            </a:pPr>
            <a:r>
              <a:t>REACT UI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2468880"/>
            <a:ext cx="2788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5F8FC"/>
                </a:solidFill>
                <a:latin typeface="Aptos"/>
              </a:defRPr>
            </a:pPr>
            <a:r>
              <a:t>App.jsx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3017520"/>
            <a:ext cx="2788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A0AEC4"/>
                </a:solidFill>
                <a:latin typeface="Aptos"/>
              </a:defRPr>
            </a:pPr>
            <a:r>
              <a:t>Menus, reports, details and analytics.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965960"/>
            <a:ext cx="3154680" cy="1828800"/>
          </a:xfrm>
          <a:prstGeom prst="roundRect">
            <a:avLst/>
          </a:prstGeom>
          <a:solidFill>
            <a:srgbClr val="131F35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2130552"/>
            <a:ext cx="2788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A0AEC4"/>
                </a:solidFill>
                <a:latin typeface="Aptos"/>
              </a:defRPr>
            </a:pPr>
            <a:r>
              <a:t>STYLING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468880"/>
            <a:ext cx="2788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5F8FC"/>
                </a:solidFill>
                <a:latin typeface="Aptos"/>
              </a:defRPr>
            </a:pPr>
            <a:r>
              <a:t>App.css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3017520"/>
            <a:ext cx="2788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A0AEC4"/>
                </a:solidFill>
                <a:latin typeface="Aptos"/>
              </a:defRPr>
            </a:pPr>
            <a:r>
              <a:t>Responsive cards, tables and status UI.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709160"/>
            <a:ext cx="8503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5F8FC"/>
                </a:solidFill>
                <a:latin typeface="Aptos"/>
              </a:defRPr>
            </a:pPr>
            <a:r>
              <a:t>React • useState • Component-based UI • Responsive CSS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53796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A0AEC4"/>
                </a:solidFill>
                <a:latin typeface="Aptos"/>
              </a:defRPr>
            </a:pPr>
            <a:r>
              <a:t>FLEETPRO  •  HACKATHON 2026    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22D3EE"/>
                </a:solidFill>
                <a:latin typeface="Aptos"/>
              </a:defRPr>
            </a:pPr>
            <a:r>
              <a:t>09  |  BUSINESS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5F8FC"/>
                </a:solidFill>
                <a:latin typeface="Aptos"/>
              </a:defRPr>
            </a:pPr>
            <a:r>
              <a:t>What FleetPro helps a fleet team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A0AEC4"/>
                </a:solidFill>
                <a:latin typeface="Aptos"/>
              </a:defRPr>
            </a:pPr>
            <a:r>
              <a:t>Built around practical operational questions.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074920" cy="1645920"/>
          </a:xfrm>
          <a:prstGeom prst="roundRect">
            <a:avLst/>
          </a:prstGeom>
          <a:solidFill>
            <a:srgbClr val="131F35"/>
          </a:solidFill>
          <a:ln>
            <a:solidFill>
              <a:srgbClr val="2D6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93392"/>
            <a:ext cx="47091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A0AEC4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70915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5F8FC"/>
                </a:solidFill>
                <a:latin typeface="Aptos"/>
              </a:defRPr>
            </a:pPr>
            <a:r>
              <a:t>MONITOR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80360"/>
            <a:ext cx="470915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A0AEC4"/>
                </a:solidFill>
                <a:latin typeface="Aptos"/>
              </a:defRPr>
            </a:pPr>
            <a:r>
              <a:t>Know which vehicles are active, idle or under maintenance.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74920" cy="1645920"/>
          </a:xfrm>
          <a:prstGeom prst="roundRect">
            <a:avLst/>
          </a:prstGeom>
          <a:solidFill>
            <a:srgbClr val="131F35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993392"/>
            <a:ext cx="47091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A0AEC4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331720"/>
            <a:ext cx="470915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5F8FC"/>
                </a:solidFill>
                <a:latin typeface="Aptos"/>
              </a:defRPr>
            </a:pPr>
            <a:r>
              <a:t>OPTIMIZE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880360"/>
            <a:ext cx="470915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A0AEC4"/>
                </a:solidFill>
                <a:latin typeface="Aptos"/>
              </a:defRPr>
            </a:pPr>
            <a:r>
              <a:t>Compare utilization and fuel efficiency across the fleet.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886200"/>
            <a:ext cx="5074920" cy="1645920"/>
          </a:xfrm>
          <a:prstGeom prst="roundRect">
            <a:avLst/>
          </a:prstGeom>
          <a:solidFill>
            <a:srgbClr val="131F35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050791"/>
            <a:ext cx="47091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A0AEC4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389120"/>
            <a:ext cx="470915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5F8FC"/>
                </a:solidFill>
                <a:latin typeface="Aptos"/>
              </a:defRPr>
            </a:pPr>
            <a:r>
              <a:t>PREVENT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937760"/>
            <a:ext cx="470915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A0AEC4"/>
                </a:solidFill>
                <a:latin typeface="Aptos"/>
              </a:defRPr>
            </a:pPr>
            <a:r>
              <a:t>Prioritize maintenance alerts before downtime grows.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3886200"/>
            <a:ext cx="5074920" cy="1645920"/>
          </a:xfrm>
          <a:prstGeom prst="roundRect">
            <a:avLst/>
          </a:prstGeom>
          <a:solidFill>
            <a:srgbClr val="131F35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4050791"/>
            <a:ext cx="47091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A0AEC4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4389120"/>
            <a:ext cx="470915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5F8FC"/>
                </a:solidFill>
                <a:latin typeface="Aptos"/>
              </a:defRPr>
            </a:pPr>
            <a:r>
              <a:t>DECIDE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937760"/>
            <a:ext cx="4709159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A0AEC4"/>
                </a:solidFill>
                <a:latin typeface="Aptos"/>
              </a:defRPr>
            </a:pPr>
            <a:r>
              <a:t>Use reports and KPIs for faster operational decisions.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53796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A0AEC4"/>
                </a:solidFill>
                <a:latin typeface="Aptos"/>
              </a:defRPr>
            </a:pPr>
            <a:r>
              <a:t>FLEETPRO  •  HACKATHON 2026 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22D3EE"/>
                </a:solidFill>
                <a:latin typeface="Aptos"/>
              </a:defRPr>
            </a:pPr>
            <a:r>
              <a:t>10  |  DEMO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5F8FC"/>
                </a:solidFill>
                <a:latin typeface="Aptos"/>
              </a:defRPr>
            </a:pPr>
            <a:r>
              <a:t>A simple story for the judges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A0AEC4"/>
                </a:solidFill>
                <a:latin typeface="Aptos"/>
              </a:defRPr>
            </a:pPr>
            <a:r>
              <a:t>Show the problem → inspect the fleet → make a decision.</a:t>
            </a:r>
          </a:p>
        </p:txBody>
      </p:sp>
      <p:sp>
        <p:nvSpPr>
          <p:cNvPr id="6" name="Oval 5"/>
          <p:cNvSpPr/>
          <p:nvPr/>
        </p:nvSpPr>
        <p:spPr>
          <a:xfrm>
            <a:off x="594360" y="2148840"/>
            <a:ext cx="594360" cy="594360"/>
          </a:xfrm>
          <a:prstGeom prst="ellipse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276856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5F8FC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260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5F8FC"/>
                </a:solidFill>
                <a:latin typeface="Aptos"/>
              </a:defRPr>
            </a:pPr>
            <a:r>
              <a:t>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401568"/>
            <a:ext cx="2011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A0AEC4"/>
                </a:solidFill>
                <a:latin typeface="Aptos"/>
              </a:defRPr>
            </a:pPr>
            <a:r>
              <a:t>See 6 vehicles and fleet health 87.</a:t>
            </a:r>
          </a:p>
        </p:txBody>
      </p:sp>
      <p:sp>
        <p:nvSpPr>
          <p:cNvPr id="10" name="Oval 9"/>
          <p:cNvSpPr/>
          <p:nvPr/>
        </p:nvSpPr>
        <p:spPr>
          <a:xfrm>
            <a:off x="2880360" y="2148840"/>
            <a:ext cx="594360" cy="594360"/>
          </a:xfrm>
          <a:prstGeom prst="ellipse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2276856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5F8FC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9260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5F8FC"/>
                </a:solidFill>
                <a:latin typeface="Aptos"/>
              </a:defRPr>
            </a:pPr>
            <a:r>
              <a:t>Vehicles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3401568"/>
            <a:ext cx="2011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A0AEC4"/>
                </a:solidFill>
                <a:latin typeface="Aptos"/>
              </a:defRPr>
            </a:pPr>
            <a:r>
              <a:t>Open a vehicle and inspect details.</a:t>
            </a:r>
          </a:p>
        </p:txBody>
      </p:sp>
      <p:sp>
        <p:nvSpPr>
          <p:cNvPr id="14" name="Oval 13"/>
          <p:cNvSpPr/>
          <p:nvPr/>
        </p:nvSpPr>
        <p:spPr>
          <a:xfrm>
            <a:off x="5166360" y="2148840"/>
            <a:ext cx="594360" cy="594360"/>
          </a:xfrm>
          <a:prstGeom prst="ellipse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66360" y="2276856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5F8FC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29260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5F8FC"/>
                </a:solidFill>
                <a:latin typeface="Aptos"/>
              </a:defRPr>
            </a:pPr>
            <a:r>
              <a:t>Fuel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3401568"/>
            <a:ext cx="2011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A0AEC4"/>
                </a:solidFill>
                <a:latin typeface="Aptos"/>
              </a:defRPr>
            </a:pPr>
            <a:r>
              <a:t>Check 10.8 km/L average efficiency.</a:t>
            </a:r>
          </a:p>
        </p:txBody>
      </p:sp>
      <p:sp>
        <p:nvSpPr>
          <p:cNvPr id="18" name="Oval 17"/>
          <p:cNvSpPr/>
          <p:nvPr/>
        </p:nvSpPr>
        <p:spPr>
          <a:xfrm>
            <a:off x="7452360" y="2148840"/>
            <a:ext cx="594360" cy="594360"/>
          </a:xfrm>
          <a:prstGeom prst="ellipse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52360" y="2276856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5F8FC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29260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5F8FC"/>
                </a:solidFill>
                <a:latin typeface="Aptos"/>
              </a:defRPr>
            </a:pPr>
            <a:r>
              <a:t>Maintenance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3401568"/>
            <a:ext cx="2011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A0AEC4"/>
                </a:solidFill>
                <a:latin typeface="Aptos"/>
              </a:defRPr>
            </a:pPr>
            <a:r>
              <a:t>Identify TN-03 overdue service.</a:t>
            </a:r>
          </a:p>
        </p:txBody>
      </p:sp>
      <p:sp>
        <p:nvSpPr>
          <p:cNvPr id="22" name="Oval 21"/>
          <p:cNvSpPr/>
          <p:nvPr/>
        </p:nvSpPr>
        <p:spPr>
          <a:xfrm>
            <a:off x="9738360" y="2148840"/>
            <a:ext cx="594360" cy="594360"/>
          </a:xfrm>
          <a:prstGeom prst="ellipse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38360" y="2276856"/>
            <a:ext cx="594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5F8FC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9260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5F8FC"/>
                </a:solidFill>
                <a:latin typeface="Aptos"/>
              </a:defRPr>
            </a:pPr>
            <a:r>
              <a:t>Reports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60" y="3401568"/>
            <a:ext cx="2011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0">
                <a:solidFill>
                  <a:srgbClr val="A0AEC4"/>
                </a:solidFill>
                <a:latin typeface="Aptos"/>
              </a:defRPr>
            </a:pPr>
            <a:r>
              <a:t>Open the relevant operational report.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53796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A0AEC4"/>
                </a:solidFill>
                <a:latin typeface="Aptos"/>
              </a:defRPr>
            </a:pPr>
            <a:r>
              <a:t>FLEETPRO  •  HACKATHON 2026  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22D3EE"/>
                </a:solidFill>
                <a:latin typeface="Aptos"/>
              </a:defRPr>
            </a:pPr>
            <a:r>
              <a:t>FLEETPRO  |  SMARTER FLEET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5F8FC"/>
                </a:solidFill>
                <a:latin typeface="Aptos"/>
              </a:defRPr>
            </a:pPr>
            <a:r>
              <a:t>From Vehicle Data to Better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377440"/>
            <a:ext cx="8503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0">
                <a:solidFill>
                  <a:srgbClr val="A0AEC4"/>
                </a:solidFill>
                <a:latin typeface="Aptos"/>
              </a:defRPr>
            </a:pPr>
            <a:r>
              <a:t>A unified dashboard for monitoring vehicles,</a:t>
            </a:r>
            <a:br/>
            <a:r>
              <a:t>fuel, maintenance, utilization and performance.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20240" y="3657600"/>
            <a:ext cx="2377440" cy="2057400"/>
          </a:xfrm>
          <a:prstGeom prst="roundRect">
            <a:avLst/>
          </a:prstGeom>
          <a:solidFill>
            <a:srgbClr val="131F35"/>
          </a:solidFill>
          <a:ln>
            <a:solidFill>
              <a:srgbClr val="2D6C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148840" y="4343400"/>
            <a:ext cx="1307592" cy="594360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394252" y="4480560"/>
            <a:ext cx="546811" cy="457200"/>
          </a:xfrm>
          <a:prstGeom prst="round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304288" y="4407408"/>
            <a:ext cx="274320" cy="1828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697480" y="4407408"/>
            <a:ext cx="274320" cy="1828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090672" y="4407408"/>
            <a:ext cx="274320" cy="1828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423160" y="4892040"/>
            <a:ext cx="292608" cy="292608"/>
          </a:xfrm>
          <a:prstGeom prst="ellipse">
            <a:avLst/>
          </a:prstGeom>
          <a:solidFill>
            <a:srgbClr val="0A1223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31996" y="4892040"/>
            <a:ext cx="292608" cy="292608"/>
          </a:xfrm>
          <a:prstGeom prst="ellipse">
            <a:avLst/>
          </a:prstGeom>
          <a:solidFill>
            <a:srgbClr val="0A1223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03120" y="5321808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2D6CDF"/>
                </a:solidFill>
                <a:latin typeface="Aptos"/>
              </a:defRPr>
            </a:pPr>
            <a:r>
              <a:t>TRUCK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92040" y="3657600"/>
            <a:ext cx="2377440" cy="2057400"/>
          </a:xfrm>
          <a:prstGeom prst="roundRect">
            <a:avLst/>
          </a:prstGeom>
          <a:solidFill>
            <a:srgbClr val="131F35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120640" y="4343400"/>
            <a:ext cx="1592884" cy="64008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276088" y="4407408"/>
            <a:ext cx="274320" cy="1828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79" y="4407408"/>
            <a:ext cx="274320" cy="1828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62472" y="4407408"/>
            <a:ext cx="274320" cy="1828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394959" y="4892040"/>
            <a:ext cx="292608" cy="292608"/>
          </a:xfrm>
          <a:prstGeom prst="ellipse">
            <a:avLst/>
          </a:prstGeom>
          <a:solidFill>
            <a:srgbClr val="0A1223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603796" y="4892040"/>
            <a:ext cx="292608" cy="292608"/>
          </a:xfrm>
          <a:prstGeom prst="ellipse">
            <a:avLst/>
          </a:prstGeom>
          <a:solidFill>
            <a:srgbClr val="0A1223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74920" y="5321808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22C55E"/>
                </a:solidFill>
                <a:latin typeface="Aptos"/>
              </a:defRPr>
            </a:pPr>
            <a:r>
              <a:t>VAN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63840" y="3657600"/>
            <a:ext cx="2377440" cy="2057400"/>
          </a:xfrm>
          <a:prstGeom prst="roundRect">
            <a:avLst/>
          </a:prstGeom>
          <a:solidFill>
            <a:srgbClr val="131F35"/>
          </a:solidFill>
          <a:ln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65008" y="4224528"/>
            <a:ext cx="1664207" cy="822960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47888" y="4407408"/>
            <a:ext cx="274320" cy="1828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641080" y="4407408"/>
            <a:ext cx="274320" cy="1828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34272" y="4407408"/>
            <a:ext cx="274320" cy="1828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427463" y="4407408"/>
            <a:ext cx="274320" cy="18288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366760" y="4892040"/>
            <a:ext cx="292608" cy="292608"/>
          </a:xfrm>
          <a:prstGeom prst="ellipse">
            <a:avLst/>
          </a:prstGeom>
          <a:solidFill>
            <a:srgbClr val="0A1223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575596" y="4892040"/>
            <a:ext cx="292608" cy="292608"/>
          </a:xfrm>
          <a:prstGeom prst="ellipse">
            <a:avLst/>
          </a:prstGeom>
          <a:solidFill>
            <a:srgbClr val="0A1223"/>
          </a:solidFill>
          <a:ln>
            <a:solidFill>
              <a:srgbClr val="F5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6719" y="5321808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22D3EE"/>
                </a:solidFill>
                <a:latin typeface="Aptos"/>
              </a:defRPr>
            </a:pPr>
            <a:r>
              <a:t>BUS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0" y="5989320"/>
            <a:ext cx="8503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5F8FC"/>
                </a:solidFill>
                <a:latin typeface="Aptos"/>
              </a:defRPr>
            </a:pPr>
            <a:r>
              <a:t>THANK YOU  •  QUESTIONS?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53796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0">
                <a:solidFill>
                  <a:srgbClr val="A0AEC4"/>
                </a:solidFill>
                <a:latin typeface="Aptos"/>
              </a:defRPr>
            </a:pPr>
            <a:r>
              <a:t>FLEETPRO  •  HACKATHON 2026    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